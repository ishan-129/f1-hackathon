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PITPULSE</a:t>
            </a:r>
          </a:p>
          <a:p>
            <a:pPr>
              <a:spcBef>
                <a:spcPts val="1000"/>
              </a:spcBef>
              <a:defRPr sz="2200" b="1">
                <a:solidFill>
                  <a:srgbClr val="E10600"/>
                </a:solidFill>
                <a:latin typeface="Arial"/>
              </a:defRPr>
            </a:pPr>
            <a:r>
              <a:t>F1 Driver Acoustic Sentiment &amp; Telemetry Correlation</a:t>
            </a:r>
          </a:p>
          <a:p>
            <a:pPr>
              <a:spcBef>
                <a:spcPts val="14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Detecting stress, fatigue, and pace loss in real time to power actionable race-engineering decisions.</a:t>
            </a:r>
          </a:p>
          <a:p>
            <a:pPr>
              <a:spcBef>
                <a:spcPts val="4000"/>
              </a:spcBef>
              <a:defRPr sz="1100" b="1">
                <a:solidFill>
                  <a:srgbClr val="66FCF1"/>
                </a:solidFill>
                <a:latin typeface="Arial"/>
              </a:defRPr>
            </a:pPr>
            <a:r>
              <a:t>HACKATHON PRESENTATION  |  STAGE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rial"/>
              </a:defRPr>
            </a:pPr>
            <a:r>
              <a:t>PITPULSE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Problem: The Driver's Invisible Struggle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E10600"/>
                </a:solidFill>
                <a:latin typeface="Arial"/>
              </a:defRPr>
            </a:pPr>
            <a:r>
              <a:t>HIGH-STRESS ENVIRONMENT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FFFF"/>
                </a:solidFill>
              </a:rPr>
              <a:t>Extreme Physics:</a:t>
            </a:r>
            <a:r>
              <a:rPr sz="1300">
                <a:solidFill>
                  <a:srgbClr val="B4B4B4"/>
                </a:solidFill>
              </a:rPr>
              <a:t> Drivers experience up to 5G lateral forces, heart rates averaging 170+ BPM, and dehydrate up to 4kg per race.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FFFF"/>
                </a:solidFill>
              </a:rPr>
              <a:t>Cognitive Overload:</a:t>
            </a:r>
            <a:r>
              <a:rPr sz="1300">
                <a:solidFill>
                  <a:srgbClr val="B4B4B4"/>
                </a:solidFill>
              </a:rPr>
              <a:t> Deciding strategy at 300+ km/h leaves zero margin for cognitive fatigue or emotional stress.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FFFF"/>
                </a:solidFill>
              </a:rPr>
              <a:t>Micro-Decisions:</a:t>
            </a:r>
            <a:r>
              <a:rPr sz="1300">
                <a:solidFill>
                  <a:srgbClr val="B4B4B4"/>
                </a:solidFill>
              </a:rPr>
              <a:t> A fraction of a second of delay in reaction times due to mental strain leads directly to lost pace or catastrophic crashes.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E10600"/>
                </a:solidFill>
                <a:latin typeface="Arial"/>
              </a:defRPr>
            </a:pPr>
            <a:r>
              <a:t>THE PIT WALL BLIND SPOT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FFFF"/>
                </a:solidFill>
              </a:rPr>
              <a:t>Telemetry Isolation:</a:t>
            </a:r>
            <a:r>
              <a:rPr sz="1300">
                <a:solidFill>
                  <a:srgbClr val="B4B4B4"/>
                </a:solidFill>
              </a:rPr>
              <a:t> Race engineers monitor vehicle telemetry (tire pressure, engine temp, sector times) but have no real-time data on driver stress.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FFFF"/>
                </a:solidFill>
              </a:rPr>
              <a:t>Subjective Comms:</a:t>
            </a:r>
            <a:r>
              <a:rPr sz="1300">
                <a:solidFill>
                  <a:srgbClr val="B4B4B4"/>
                </a:solidFill>
              </a:rPr>
              <a:t> Radio communication analysis is completely subjective, relying on the engineer's 'gut feeling' under high-pressure scenarios.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FFFF"/>
                </a:solidFill>
              </a:rPr>
              <a:t>Acoustic Noise:</a:t>
            </a:r>
            <a:r>
              <a:rPr sz="1300">
                <a:solidFill>
                  <a:srgbClr val="B4B4B4"/>
                </a:solidFill>
              </a:rPr>
              <a:t> Heavy background engine rumble (V6 Hybrid) and wind noise mask biometric fatigue indices, rendering manual listening prone to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rial"/>
              </a:defRPr>
            </a:pPr>
            <a:r>
              <a:t>PITPULSE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Solution: Fusing Driver State with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2926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10600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2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REAL-TIME SPEECH &amp; SENTIMENT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Acoustic Capture:</a:t>
            </a:r>
            <a:r>
              <a:rPr sz="1100">
                <a:solidFill>
                  <a:srgbClr val="B4B4B4"/>
                </a:solidFill>
              </a:rPr>
              <a:t> Ingests raw driver radio streams, dynamically downmixing to 16kHz mono.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ASR Transcription:</a:t>
            </a:r>
            <a:r>
              <a:rPr sz="1100">
                <a:solidFill>
                  <a:srgbClr val="B4B4B4"/>
                </a:solidFill>
              </a:rPr>
              <a:t> Runs custom Whisper models to transcribe radio clips in seconds.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Biometric Extraction:</a:t>
            </a:r>
            <a:r>
              <a:rPr sz="1100">
                <a:solidFill>
                  <a:srgbClr val="B4B4B4"/>
                </a:solidFill>
              </a:rPr>
              <a:t> Computes speech volume (RMS) and silence pauses to detect exhaustion.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74520"/>
            <a:ext cx="2926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66FCF1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2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MULTIMODAL FUSION &amp; CLASSIFICATION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Dual-Sentiment AI:</a:t>
            </a:r>
            <a:r>
              <a:rPr sz="1100">
                <a:solidFill>
                  <a:srgbClr val="B4B4B4"/>
                </a:solidFill>
              </a:rPr>
              <a:t> Fuses Audio emotion classification with Text sentiment classification.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Stress Formulas:</a:t>
            </a:r>
            <a:r>
              <a:rPr sz="1100">
                <a:solidFill>
                  <a:srgbClr val="B4B4B4"/>
                </a:solidFill>
              </a:rPr>
              <a:t> Combines pace, volume, and keyword triggers to estimate stress (0-100).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State Classification:</a:t>
            </a:r>
            <a:r>
              <a:rPr sz="1100">
                <a:solidFill>
                  <a:srgbClr val="B4B4B4"/>
                </a:solidFill>
              </a:rPr>
              <a:t> Auto-labels drivers as CALM, STRESSED, or TIRED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2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TELEMETRY CORRELATION HUD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Live Ingestion:</a:t>
            </a:r>
            <a:r>
              <a:rPr sz="1100">
                <a:solidFill>
                  <a:srgbClr val="B4B4B4"/>
                </a:solidFill>
              </a:rPr>
              <a:t> Integrates lap telemetry and sector split logs via Pandas.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Performance Delta:</a:t>
            </a:r>
            <a:r>
              <a:rPr sz="1100">
                <a:solidFill>
                  <a:srgbClr val="B4B4B4"/>
                </a:solidFill>
              </a:rPr>
              <a:t> Compares post-stress performance against a strict calm-lap baseline.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Action Directives:</a:t>
            </a:r>
            <a:r>
              <a:rPr sz="1100">
                <a:solidFill>
                  <a:srgbClr val="B4B4B4"/>
                </a:solidFill>
              </a:rPr>
              <a:t> Displays clear recommendations (Plan B pit swap, minimize radio traffic).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rial"/>
              </a:defRPr>
            </a:pPr>
            <a:r>
              <a:t>PITPULSE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 Approach: Multimodal Sentiment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94360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E10600"/>
                </a:solidFill>
                <a:latin typeface="Arial"/>
              </a:defRPr>
            </a:pPr>
            <a:r>
              <a:t>MULTIMODAL EMOTION PIPELINE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ASR Transcription:</a:t>
            </a:r>
            <a:r>
              <a:rPr b="1" sz="1200">
                <a:solidFill>
                  <a:srgbClr val="66FCF1"/>
                </a:solidFill>
              </a:rPr>
              <a:t> openai/whisper-tiny</a:t>
            </a:r>
            <a:r>
              <a:rPr sz="1200">
                <a:solidFill>
                  <a:srgbClr val="B4B4B4"/>
                </a:solidFill>
              </a:rPr>
              <a:t> (Fine-tuned on F1 radio corpus, fast CPU inference).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Text Emotion:</a:t>
            </a:r>
            <a:r>
              <a:rPr b="1" sz="1200">
                <a:solidFill>
                  <a:srgbClr val="66FCF1"/>
                </a:solidFill>
              </a:rPr>
              <a:t> j-hartmann/emotion-english-distilroberta-base</a:t>
            </a:r>
            <a:r>
              <a:rPr sz="1200">
                <a:solidFill>
                  <a:srgbClr val="B4B4B4"/>
                </a:solidFill>
              </a:rPr>
              <a:t> (Maps anger, fear, disgust, sadness).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Audio Emotion (SER):</a:t>
            </a:r>
            <a:r>
              <a:rPr b="1" sz="1200">
                <a:solidFill>
                  <a:srgbClr val="66FCF1"/>
                </a:solidFill>
              </a:rPr>
              <a:t> superb/wav2vec2-base-superb-er</a:t>
            </a:r>
            <a:r>
              <a:rPr sz="1200">
                <a:solidFill>
                  <a:srgbClr val="B4B4B4"/>
                </a:solidFill>
              </a:rPr>
              <a:t> (Classifies voice waveforms into angry/neutral/sad).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Acoustic Stats:</a:t>
            </a:r>
            <a:r>
              <a:rPr b="1" sz="1200">
                <a:solidFill>
                  <a:srgbClr val="66FCF1"/>
                </a:solidFill>
              </a:rPr>
              <a:t> Waveform RMS &amp; Silence ratios</a:t>
            </a:r>
            <a:r>
              <a:rPr sz="1200">
                <a:solidFill>
                  <a:srgbClr val="B4B4B4"/>
                </a:solidFill>
              </a:rPr>
              <a:t> (Extracts speech volume &amp; pauses/hesitations directly).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7548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206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0"/>
              </a:spcAft>
              <a:defRPr sz="1600" b="1">
                <a:solidFill>
                  <a:srgbClr val="E10600"/>
                </a:solidFill>
                <a:latin typeface="Arial"/>
              </a:defRPr>
            </a:pPr>
            <a:r>
              <a:t>THE FUSION ENGINE</a:t>
            </a:r>
          </a:p>
          <a:p>
            <a:pPr>
              <a:spcAft>
                <a:spcPts val="500"/>
              </a:spcAft>
              <a:defRPr b="1" sz="1200">
                <a:solidFill>
                  <a:srgbClr val="FFFFFF"/>
                </a:solidFill>
              </a:defRPr>
            </a:pPr>
            <a:r>
              <a:t>FUSION FORMULA:</a:t>
            </a:r>
          </a:p>
          <a:p>
            <a:pPr>
              <a:spcAft>
                <a:spcPts val="2500"/>
              </a:spcAft>
              <a:defRPr b="1" sz="1200">
                <a:solidFill>
                  <a:srgbClr val="66FCF1"/>
                </a:solidFill>
              </a:defRPr>
            </a:pPr>
            <a:r>
              <a:t>Final Stress = 45% Voice + 30% Text + 15% Urgency + 10% Fatigue</a:t>
            </a:r>
          </a:p>
          <a:p>
            <a:pPr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DRIVER STATE DECISION MATRIX: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2ECC71"/>
                </a:solidFill>
              </a:rPr>
              <a:t> •  CALM: </a:t>
            </a:r>
            <a:r>
              <a:rPr sz="1200">
                <a:solidFill>
                  <a:srgbClr val="B4B4B4"/>
                </a:solidFill>
              </a:rPr>
              <a:t> Low stress, low fatigue.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10600"/>
                </a:solidFill>
              </a:rPr>
              <a:t> •  STRESSED: </a:t>
            </a:r>
            <a:r>
              <a:rPr sz="1200">
                <a:solidFill>
                  <a:srgbClr val="B4B4B4"/>
                </a:solidFill>
              </a:rPr>
              <a:t> Stress score &gt; 50.0.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39C12"/>
                </a:solidFill>
              </a:rPr>
              <a:t> •  TIRED: </a:t>
            </a:r>
            <a:r>
              <a:rPr sz="1200">
                <a:solidFill>
                  <a:srgbClr val="B4B4B4"/>
                </a:solidFill>
              </a:rPr>
              <a:t> Fatigue score &gt;= 50.0.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rial"/>
              </a:defRPr>
            </a:pPr>
            <a:r>
              <a:t>PITPULSE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 Approach: Telemetry &amp; Correlation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2926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2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INGESTION &amp; CLEANING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CSV Processing:</a:t>
            </a:r>
            <a:r>
              <a:rPr sz="1100">
                <a:solidFill>
                  <a:srgbClr val="B4B4B4"/>
                </a:solidFill>
              </a:rPr>
              <a:t> Dynamic CSV ingestion parses lap-times and sector times using Pandas.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Deduplication:</a:t>
            </a:r>
            <a:r>
              <a:rPr sz="1100">
                <a:solidFill>
                  <a:srgbClr val="B4B4B4"/>
                </a:solidFill>
              </a:rPr>
              <a:t> Wipes previous logs in SQL database for the active session to avoid overlaps.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Sector Backups:</a:t>
            </a:r>
            <a:r>
              <a:rPr sz="1100">
                <a:solidFill>
                  <a:srgbClr val="B4B4B4"/>
                </a:solidFill>
              </a:rPr>
              <a:t> Computes fallback sector splits (Lap Time / 3) if telemetry lacks explicit sectors.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74520"/>
            <a:ext cx="2926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66FCF1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2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BASELINE CALCULATION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Trigger Detection:</a:t>
            </a:r>
            <a:r>
              <a:rPr sz="1100">
                <a:solidFill>
                  <a:srgbClr val="B4B4B4"/>
                </a:solidFill>
              </a:rPr>
              <a:t> Finds first transition lap where driver status shifts from Calm to Stressed/Tired.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Calm Baseline:</a:t>
            </a:r>
            <a:r>
              <a:rPr sz="1100">
                <a:solidFill>
                  <a:srgbClr val="B4B4B4"/>
                </a:solidFill>
              </a:rPr>
              <a:t> Computes baseline by averaging last 3 calm laps immediately before stress trigger.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Anchor Point:</a:t>
            </a:r>
            <a:r>
              <a:rPr sz="1100">
                <a:solidFill>
                  <a:srgbClr val="B4B4B4"/>
                </a:solidFill>
              </a:rPr>
              <a:t> Establishes a reference for subsequent pace degradation comparisons.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10600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2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PACE LOSS CORRELATION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Deterioration %:</a:t>
            </a:r>
            <a:r>
              <a:rPr sz="1100">
                <a:solidFill>
                  <a:srgbClr val="B4B4B4"/>
                </a:solidFill>
              </a:rPr>
              <a:t> Formula: (Lap Time - Baseline) / Baseline * 100.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Sector Analytics:</a:t>
            </a:r>
            <a:r>
              <a:rPr sz="1100">
                <a:solidFill>
                  <a:srgbClr val="B4B4B4"/>
                </a:solidFill>
              </a:rPr>
              <a:t> Pins performance loss to straight-line speed vs cornering sectors.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</a:rPr>
              <a:t>AI Directives:</a:t>
            </a:r>
            <a:r>
              <a:rPr sz="1100">
                <a:solidFill>
                  <a:srgbClr val="B4B4B4"/>
                </a:solidFill>
              </a:rPr>
              <a:t> Renders mechanical wear hints (e.g. thermal tire degradation) &amp; tactical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rial"/>
              </a:defRPr>
            </a:pPr>
            <a:r>
              <a:t>PITPULSE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Stage Demo: A 2-Minute Race Engineering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  <a:p>
            <a:pPr>
              <a:spcAft>
                <a:spcPts val="15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ONE-CLICK START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Deterministic Seed:</a:t>
            </a:r>
            <a:r>
              <a:rPr sz="1000">
                <a:solidFill>
                  <a:srgbClr val="B4B4B4"/>
                </a:solidFill>
              </a:rPr>
              <a:t> Load Demo Session loads a pre-compiled 22-lap telemetry file.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Immediate Sync:</a:t>
            </a:r>
            <a:r>
              <a:rPr sz="1000">
                <a:solidFill>
                  <a:srgbClr val="B4B4B4"/>
                </a:solidFill>
              </a:rPr>
              <a:t> Bypasses live model load latency on stage.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Starting State:</a:t>
            </a:r>
            <a:r>
              <a:rPr sz="1000">
                <a:solidFill>
                  <a:srgbClr val="B4B4B4"/>
                </a:solidFill>
              </a:rPr>
              <a:t> Driver begins in CALM state, establishing telemetry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45920"/>
            <a:ext cx="24688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194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E10600"/>
                </a:solidFill>
                <a:latin typeface="Arial"/>
              </a:defRPr>
            </a:pPr>
            <a:r>
              <a:t>STEP 2</a:t>
            </a:r>
          </a:p>
          <a:p>
            <a:pPr>
              <a:spcAft>
                <a:spcPts val="15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STRESS EVENT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Lap 18 Radio:</a:t>
            </a:r>
            <a:r>
              <a:rPr sz="1000">
                <a:solidFill>
                  <a:srgbClr val="B4B4B4"/>
                </a:solidFill>
              </a:rPr>
              <a:t> Select Lap 18 in transcripts log.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Voice Transcript:</a:t>
            </a:r>
            <a:r>
              <a:rPr sz="1000">
                <a:solidFill>
                  <a:srgbClr val="B4B4B4"/>
                </a:solidFill>
              </a:rPr>
              <a:t> 'The tires are gone, I have no grip'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Biometric Trigger:</a:t>
            </a:r>
            <a:r>
              <a:rPr sz="1000">
                <a:solidFill>
                  <a:srgbClr val="B4B4B4"/>
                </a:solidFill>
              </a:rPr>
              <a:t> Fused stress score rises to 78%, flashing STRESSED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45920"/>
            <a:ext cx="24688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828800"/>
            <a:ext cx="2194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66FCF1"/>
                </a:solidFill>
                <a:latin typeface="Arial"/>
              </a:defRPr>
            </a:pPr>
            <a:r>
              <a:t>STEP 3</a:t>
            </a:r>
          </a:p>
          <a:p>
            <a:pPr>
              <a:spcAft>
                <a:spcPts val="15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CORRELATED PACE LOSS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Baseline Delta:</a:t>
            </a:r>
            <a:r>
              <a:rPr sz="1000">
                <a:solidFill>
                  <a:srgbClr val="B4B4B4"/>
                </a:solidFill>
              </a:rPr>
              <a:t> Lap times deteriorate to 92.16s, triggering a +2.4% pace loss delta.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Track Diagnostics:</a:t>
            </a:r>
            <a:r>
              <a:rPr sz="1000">
                <a:solidFill>
                  <a:srgbClr val="B4B4B4"/>
                </a:solidFill>
              </a:rPr>
              <a:t> Sector 2 (corners) shows a +2.50% degradation.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Biometric overlay:</a:t>
            </a:r>
            <a:r>
              <a:rPr sz="1000">
                <a:solidFill>
                  <a:srgbClr val="B4B4B4"/>
                </a:solidFill>
              </a:rPr>
              <a:t> Stress HUD correlates to pace curve.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645920"/>
            <a:ext cx="24688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828800"/>
            <a:ext cx="2194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ECC71"/>
                </a:solidFill>
                <a:latin typeface="Arial"/>
              </a:defRPr>
            </a:pPr>
            <a:r>
              <a:t>STEP 4</a:t>
            </a:r>
          </a:p>
          <a:p>
            <a:pPr>
              <a:spcAft>
                <a:spcPts val="15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ENGINEER ACTION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Tactical Directives:</a:t>
            </a:r>
            <a:r>
              <a:rPr sz="1000">
                <a:solidFill>
                  <a:srgbClr val="B4B4B4"/>
                </a:solidFill>
              </a:rPr>
              <a:t> Race Engineer screen syncs alerts instantly.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Direct Actions:</a:t>
            </a:r>
            <a:r>
              <a:rPr sz="1000">
                <a:solidFill>
                  <a:srgbClr val="B4B4B4"/>
                </a:solidFill>
              </a:rPr>
              <a:t> Recommends pit Plan B swap and radio silencing.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</a:rPr>
              <a:t>Conclusion:</a:t>
            </a:r>
            <a:r>
              <a:rPr sz="1000">
                <a:solidFill>
                  <a:srgbClr val="B4B4B4"/>
                </a:solidFill>
              </a:rPr>
              <a:t> Real-time objective biometrics prevents pace bleed.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10600"/>
                </a:solidFill>
                <a:latin typeface="Arial"/>
              </a:defRPr>
            </a:pPr>
            <a:r>
              <a:t>PITPULSE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 Stack &amp; Implementation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E10600"/>
                </a:solidFill>
                <a:latin typeface="Arial"/>
              </a:defRPr>
            </a:pPr>
            <a:r>
              <a:t>PRODUCTION-READY TECH STACK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Frontend Application:</a:t>
            </a:r>
            <a:r>
              <a:rPr sz="1200">
                <a:solidFill>
                  <a:srgbClr val="B4B4B4"/>
                </a:solidFill>
              </a:rPr>
              <a:t> Next.js 15+, React 19, TypeScript, Tailwind CSS v4, Recharts (responsive double-axis HUD charts).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Backend Services:</a:t>
            </a:r>
            <a:r>
              <a:rPr sz="1200">
                <a:solidFill>
                  <a:srgbClr val="B4B4B4"/>
                </a:solidFill>
              </a:rPr>
              <a:t> Python 3.14, FastAPI, SQLAlchemy, SQLite, Uvicorn.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ML Engineering:</a:t>
            </a:r>
            <a:r>
              <a:rPr sz="1200">
                <a:solidFill>
                  <a:srgbClr val="B4B4B4"/>
                </a:solidFill>
              </a:rPr>
              <a:t> PyTorch, Hugging Face Hub (Whisper-Tiny, DistilRoBERTa, Wav2Vec2-ER).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Data Analysis:</a:t>
            </a:r>
            <a:r>
              <a:rPr sz="1200">
                <a:solidFill>
                  <a:srgbClr val="B4B4B4"/>
                </a:solidFill>
              </a:rPr>
              <a:t> Pandas, NumPy (biometric &amp; CSV telemetry alignment).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E10600"/>
                </a:solidFill>
                <a:latin typeface="Arial"/>
              </a:defRPr>
            </a:pPr>
            <a:r>
              <a:t>HACKATHON-READY HARDENING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100% Offline Edge Execution:</a:t>
            </a:r>
            <a:r>
              <a:rPr sz="1200">
                <a:solidFill>
                  <a:srgbClr val="B4B4B4"/>
                </a:solidFill>
              </a:rPr>
              <a:t> All transcriptions, SER voice evaluations, and telemetry calibrations run fully locally. Zero external API risk.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Dynamic React Context:</a:t>
            </a:r>
            <a:r>
              <a:rPr sz="1200">
                <a:solidFill>
                  <a:srgbClr val="B4B4B4"/>
                </a:solidFill>
              </a:rPr>
              <a:t> Shared SessionContext matches updates across all 4 dashboards in real-time.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Fast CPU Inference Singletons:</a:t>
            </a:r>
            <a:r>
              <a:rPr sz="1200">
                <a:solidFill>
                  <a:srgbClr val="B4B4B4"/>
                </a:solidFill>
              </a:rPr>
              <a:t> Warmup caches ensure subsequent inferences resolve in under 5 seconds.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FFFFF"/>
                </a:solidFill>
              </a:rPr>
              <a:t>Deterministic Demonstration:</a:t>
            </a:r>
            <a:r>
              <a:rPr sz="1200">
                <a:solidFill>
                  <a:srgbClr val="B4B4B4"/>
                </a:solidFill>
              </a:rPr>
              <a:t> Load Demo Session sews telemetry + transcriptions instantly for flawless live pitches.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